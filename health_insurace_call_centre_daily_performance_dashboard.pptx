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  <p:sldId id="26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image" Target="../media/image5.emf"/><Relationship Id="rId4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image" Target="../media/image15.emf"/><Relationship Id="rId4" Type="http://schemas.openxmlformats.org/officeDocument/2006/relationships/image" Target="../media/image18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73A14-171B-4056-B2CE-7DDAAF81FB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FD5971-95CE-4D11-94F7-585F4E797C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63B96-4C36-4779-B725-A125D0E73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955A8-1DD8-4007-A677-55EED1E7F2FD}" type="datetimeFigureOut">
              <a:rPr lang="en-NZ" smtClean="0"/>
              <a:t>25/11/2025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02ADB-5285-4C5C-AFB4-451F329E8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F7BCB-6625-4104-80AF-C5AC5865E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629C2-AF61-4090-BD3C-3FCB8EB3BE6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985344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F258A-6A32-4579-ADAB-EAAA77921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E545D-D3E7-4D9E-823D-2D46B9076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490FA-8330-49FC-9314-6C6AF2617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955A8-1DD8-4007-A677-55EED1E7F2FD}" type="datetimeFigureOut">
              <a:rPr lang="en-NZ" smtClean="0"/>
              <a:t>25/11/2025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AFA03-70A3-4883-AE8E-D87B0F520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5CEF0-5224-4FB6-98F4-45D48B606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629C2-AF61-4090-BD3C-3FCB8EB3BE6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66301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C5B16-BAB0-4781-8757-17AC50084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77E5C8-3A7F-4E5F-A45C-01867D37B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E328D-723F-4815-9D9A-327807A81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955A8-1DD8-4007-A677-55EED1E7F2FD}" type="datetimeFigureOut">
              <a:rPr lang="en-NZ" smtClean="0"/>
              <a:t>25/11/2025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7BCA1-87AD-428F-95F8-BC4F7EC5C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1D430-D1E5-47C8-BB4F-AACBF6CDC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629C2-AF61-4090-BD3C-3FCB8EB3BE6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685670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B9AA2-7E22-4379-9D84-E412C3CF6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DA982-C2AE-47C8-898C-8D8CCBF2D9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169DA0-94AA-4AED-AD7F-2E1A57E64D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324EA-CE8C-417D-8DE4-EF152E481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955A8-1DD8-4007-A677-55EED1E7F2FD}" type="datetimeFigureOut">
              <a:rPr lang="en-NZ" smtClean="0"/>
              <a:t>25/11/2025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5925D2-0E94-4614-B8C6-97764EF1B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B06B83-F7D0-4A8A-B945-826557E78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629C2-AF61-4090-BD3C-3FCB8EB3BE6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52835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281EA-EEC6-4E96-B0EB-2BB15D33C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AC63B-692B-4CF3-825C-322279378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DFCEC4-5397-4240-B3DC-CC5A7E232D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9B0B50-A3E8-4C40-A255-81A6ABFA07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518110-1184-4AFB-9D95-9BD26449C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5CD15F-1E00-421C-BF1A-A041BEA7A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955A8-1DD8-4007-A677-55EED1E7F2FD}" type="datetimeFigureOut">
              <a:rPr lang="en-NZ" smtClean="0"/>
              <a:t>25/11/2025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FE515D-A7AE-4281-AB4C-0D45BF8E0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8F420A-D008-4563-937F-57B72D0CA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629C2-AF61-4090-BD3C-3FCB8EB3BE6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43083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F8CC4-01C6-412A-A28E-B17859C7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44FBA4-C7E0-45D6-97F7-682FE8A1D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955A8-1DD8-4007-A677-55EED1E7F2FD}" type="datetimeFigureOut">
              <a:rPr lang="en-NZ" smtClean="0"/>
              <a:t>25/11/2025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583F2D-7C47-40EA-A6A2-8417EAF2F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61A78-C1BB-466F-A5B5-DA096B000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629C2-AF61-4090-BD3C-3FCB8EB3BE6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71946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BF4C4A-8FDD-4DEC-8488-02097D609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955A8-1DD8-4007-A677-55EED1E7F2FD}" type="datetimeFigureOut">
              <a:rPr lang="en-NZ" smtClean="0"/>
              <a:t>25/11/2025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D1CF18-586D-4F52-A266-F0F09D846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E9A71-5F67-47D7-8A06-C1F40704F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629C2-AF61-4090-BD3C-3FCB8EB3BE6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16234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5CAA9-F6B8-4A0F-AA31-9EFB817D8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B8C01-137B-41CB-9EAE-0A5E43999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9055F-6E9A-4301-AE28-6C020CF6C6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1D4900-FD5A-49CA-B089-45E4049B1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955A8-1DD8-4007-A677-55EED1E7F2FD}" type="datetimeFigureOut">
              <a:rPr lang="en-NZ" smtClean="0"/>
              <a:t>25/11/2025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F841EC-927A-4585-BCF4-C1CA820AA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D8E9A-FA7E-4BF8-A0E8-AA601D207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629C2-AF61-4090-BD3C-3FCB8EB3BE6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37237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4BB98-EAA4-49F5-B0A2-C18BE7D1E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A35A8-C6EB-4C35-A37B-5242B946E5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4971B9-EAEB-4BE6-A2BE-4A4D6248C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D0A0A1-721C-46AA-A082-A3E06A884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955A8-1DD8-4007-A677-55EED1E7F2FD}" type="datetimeFigureOut">
              <a:rPr lang="en-NZ" smtClean="0"/>
              <a:t>25/11/2025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0DC39F-AF7C-4E87-9EE8-D0E20326C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CD4DD-8409-4CA9-816A-C98F85748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629C2-AF61-4090-BD3C-3FCB8EB3BE6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304283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D7D69-5AF2-4682-90B0-30A3EA914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4AAF0C-8D24-433C-BC0A-A77E40B28E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9C61A-DEE5-4060-A0E1-AD694DBB8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955A8-1DD8-4007-A677-55EED1E7F2FD}" type="datetimeFigureOut">
              <a:rPr lang="en-NZ" smtClean="0"/>
              <a:t>25/11/2025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1B7A5-D031-46E7-ABD8-348862872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93172-6DC4-4703-8147-907F3AEF5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629C2-AF61-4090-BD3C-3FCB8EB3BE6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066556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8306E6-404C-4561-A54E-324F2A8213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F75355-7EAE-4C26-810C-7CFB79347E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EF533-543C-4FD3-A8A6-C22AE0A2B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955A8-1DD8-4007-A677-55EED1E7F2FD}" type="datetimeFigureOut">
              <a:rPr lang="en-NZ" smtClean="0"/>
              <a:t>25/11/2025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011DB-D3EA-417F-A863-5D3834AC7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A3662-DC1D-40C5-A44D-295537751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629C2-AF61-4090-BD3C-3FCB8EB3BE6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849684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9977B3-4CF0-4B9C-BE87-EF243C2E4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4005EF-BF1C-4830-B5F5-CFAEA0F55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344B0-529E-453A-8F61-63EB054CE0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A955A8-1DD8-4007-A677-55EED1E7F2FD}" type="datetimeFigureOut">
              <a:rPr lang="en-NZ" smtClean="0"/>
              <a:t>25/11/2025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8706E-05B2-4218-B16C-989E06DECF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99A33-2524-433F-87AA-1DF508AB8E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5629C2-AF61-4090-BD3C-3FCB8EB3BE6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1335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ndrew\OneDrive\Documents\GitHub\health-insurance-call-centre-optimisation\health_insurace_call_centre_analytics.xlsx!Slide%231%20Calls&amp;Time!R3C20" TargetMode="Externa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file:///C:\Users\Andrew\OneDrive\Documents\GitHub\health-insurance-call-centre-optimisation\health_insurace_call_centre_analytics.xlsx!Slide%231%20Calls&amp;Time!R2C15:R3C19" TargetMode="External"/><Relationship Id="rId7" Type="http://schemas.openxmlformats.org/officeDocument/2006/relationships/oleObject" Target="file:///C:\Users\Andrew\OneDrive\Documents\GitHub\health-insurance-call-centre-optimisation\health_insurace_call_centre_analytics.xlsx!Slide%231%20Calls&amp;Time!%5bhealth_insurace_call_centre_analytics.xlsx%5dSlide%231%20Calls&amp;Time%20Chart%201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emf"/><Relationship Id="rId5" Type="http://schemas.openxmlformats.org/officeDocument/2006/relationships/oleObject" Target="file:///C:\Users\Andrew\OneDrive\Documents\GitHub\health-insurance-call-centre-optimisation\health_insurace_call_centre_analytics.xlsx!Slide%231%20Calls&amp;Time!%5bhealth_insurace_call_centre_analytics.xlsx%5dSlide%231%20Calls&amp;Time%20Chart%202" TargetMode="External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oleObject" Target="file:///C:\Users\Andrew\OneDrive\Documents\GitHub\health-insurance-call-centre-optimisation\health_insurace_call_centre_analytics.xlsx!Slide%231%20Calls&amp;Time!R2C15:R3C19" TargetMode="External"/><Relationship Id="rId7" Type="http://schemas.openxmlformats.org/officeDocument/2006/relationships/oleObject" Target="file:///C:\Users\Andrew\OneDrive\Documents\GitHub\health-insurance-call-centre-optimisation\health_insurace_call_centre_analytics.xlsx!Slide%232%20LostCalls!%5bhealth_insurace_call_centre_analytics.xlsx%5dSlide%232%20LostCalls%20Chart%207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emf"/><Relationship Id="rId5" Type="http://schemas.openxmlformats.org/officeDocument/2006/relationships/oleObject" Target="file:///C:\Users\Andrew\OneDrive\Documents\GitHub\health-insurance-call-centre-optimisation\health_insurace_call_centre_analytics.xlsx!Slide%232%20LostCalls!%5bhealth_insurace_call_centre_analytics.xlsx%5dSlide%232%20LostCalls%20Chart%203" TargetMode="External"/><Relationship Id="rId10" Type="http://schemas.openxmlformats.org/officeDocument/2006/relationships/image" Target="../media/image8.emf"/><Relationship Id="rId4" Type="http://schemas.openxmlformats.org/officeDocument/2006/relationships/image" Target="../media/image5.emf"/><Relationship Id="rId9" Type="http://schemas.openxmlformats.org/officeDocument/2006/relationships/oleObject" Target="file:///C:\Users\Andrew\OneDrive\Documents\GitHub\health-insurance-call-centre-optimisation\health_insurace_call_centre_analytics.xlsx!Slide%232%20LostCalls!%5bhealth_insurace_call_centre_analytics.xlsx%5dSlide%232%20LostCalls%20Chart%2011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oleObject" Target="file:///C:\Users\Andrew\OneDrive\Documents\GitHub\health-insurance-call-centre-optimisation\health_insurace_call_centre_analytics.xlsx!%233%20Slide%20Out!%5bhealth_insurace_call_centre_analytics.xlsx%5d%233%20Slide%20Out%20Chart%201" TargetMode="External"/><Relationship Id="rId7" Type="http://schemas.openxmlformats.org/officeDocument/2006/relationships/oleObject" Target="file:///C:\Users\Andrew\OneDrive\Documents\GitHub\health-insurance-call-centre-optimisation\health_insurace_call_centre_analytics.xlsx!%233%20Slide%20Out!R3C16:R4C22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0.emf"/><Relationship Id="rId5" Type="http://schemas.openxmlformats.org/officeDocument/2006/relationships/oleObject" Target="file:///C:\Users\Andrew\OneDrive\Documents\GitHub\health-insurance-call-centre-optimisation\health_insurace_call_centre_analytics.xlsx!%233%20Slide%20Out!%5bhealth_insurace_call_centre_analytics.xlsx%5d%233%20Slide%20Out%20Chart%202" TargetMode="External"/><Relationship Id="rId4" Type="http://schemas.openxmlformats.org/officeDocument/2006/relationships/image" Target="../media/image9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oleObject" Target="file:///C:\Users\Andrew\OneDrive\Documents\GitHub\health-insurance-call-centre-optimisation\health_insurace_call_centre_analytics.xlsx!Slide%234%20CallTypes!R3C17:R4C19" TargetMode="External"/><Relationship Id="rId7" Type="http://schemas.openxmlformats.org/officeDocument/2006/relationships/oleObject" Target="file:///C:\Users\Andrew\OneDrive\Documents\GitHub\health-insurance-call-centre-optimisation\health_insurace_call_centre_analytics.xlsx!Slide%234%20CallTypes!%5bhealth_insurace_call_centre_analytics.xlsx%5dSlide%234%20CallTypes%20Chart%202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3.emf"/><Relationship Id="rId5" Type="http://schemas.openxmlformats.org/officeDocument/2006/relationships/oleObject" Target="file:///C:\Users\Andrew\OneDrive\Documents\GitHub\health-insurance-call-centre-optimisation\health_insurace_call_centre_analytics.xlsx!Slide%234%20CallTypes!%5bhealth_insurace_call_centre_analytics.xlsx%5dSlide%234%20CallTypes%20Chart%201" TargetMode="External"/><Relationship Id="rId4" Type="http://schemas.openxmlformats.org/officeDocument/2006/relationships/image" Target="../media/image12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oleObject" Target="file:///C:\Users\Andrew\OneDrive\Documents\GitHub\health-insurance-call-centre-optimisation\health_insurace_call_centre_analytics.xlsx!Slide%235%20CSAT!R2C19:R3C21" TargetMode="External"/><Relationship Id="rId7" Type="http://schemas.openxmlformats.org/officeDocument/2006/relationships/oleObject" Target="file:///C:\Users\Andrew\OneDrive\Documents\GitHub\health-insurance-call-centre-optimisation\health_insurace_call_centre_analytics.xlsx!Slide%235%20CSAT!%5bhealth_insurace_call_centre_analytics.xlsx%5dSlide%235%20CSAT%20Chart%202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6.emf"/><Relationship Id="rId5" Type="http://schemas.openxmlformats.org/officeDocument/2006/relationships/oleObject" Target="file:///C:\Users\Andrew\OneDrive\Documents\GitHub\health-insurance-call-centre-optimisation\health_insurace_call_centre_analytics.xlsx!Slide%235%20CSAT!%5bhealth_insurace_call_centre_analytics.xlsx%5dSlide%235%20CSAT%20Chart%201" TargetMode="External"/><Relationship Id="rId10" Type="http://schemas.openxmlformats.org/officeDocument/2006/relationships/image" Target="../media/image18.emf"/><Relationship Id="rId4" Type="http://schemas.openxmlformats.org/officeDocument/2006/relationships/image" Target="../media/image15.emf"/><Relationship Id="rId9" Type="http://schemas.openxmlformats.org/officeDocument/2006/relationships/oleObject" Target="file:///C:\Users\Andrew\OneDrive\Documents\GitHub\health-insurance-call-centre-optimisation\health_insurace_call_centre_analytics.xlsx!Slide%235%20CSAT!%5bhealth_insurace_call_centre_analytics.xlsx%5dSlide%235%20CSAT%20Chart%20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4289DEE-94F8-4758-9987-04132B811DDA}"/>
              </a:ext>
            </a:extLst>
          </p:cNvPr>
          <p:cNvSpPr/>
          <p:nvPr/>
        </p:nvSpPr>
        <p:spPr>
          <a:xfrm>
            <a:off x="180735" y="1947175"/>
            <a:ext cx="11830530" cy="2203861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NZ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788609-AE47-41C9-A355-61CB2411F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54199"/>
            <a:ext cx="9144000" cy="1655763"/>
          </a:xfrm>
        </p:spPr>
        <p:txBody>
          <a:bodyPr anchor="ctr">
            <a:normAutofit/>
          </a:bodyPr>
          <a:lstStyle/>
          <a:p>
            <a:r>
              <a:rPr lang="en-NZ" sz="4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Health Insurance</a:t>
            </a:r>
            <a:r>
              <a:rPr lang="en-US" sz="4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Call Centre Daily Performance </a:t>
            </a:r>
            <a:endParaRPr lang="en-NZ" sz="4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9CE899-1341-4340-AC97-EFB6E4B58D56}"/>
              </a:ext>
            </a:extLst>
          </p:cNvPr>
          <p:cNvSpPr txBox="1"/>
          <p:nvPr/>
        </p:nvSpPr>
        <p:spPr>
          <a:xfrm>
            <a:off x="3299053" y="6550223"/>
            <a:ext cx="88929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 confidentiality reasons, all sensitive information has been removed, and some data have been artificially generated</a:t>
            </a:r>
            <a:endParaRPr lang="en-NZ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F48387F-9E2E-43E2-9A33-A2C664E5CB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9090709"/>
              </p:ext>
            </p:extLst>
          </p:nvPr>
        </p:nvGraphicFramePr>
        <p:xfrm>
          <a:off x="9120000" y="219630"/>
          <a:ext cx="280352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Worksheet" r:id="rId3" imgW="2804018" imgH="434387" progId="Excel.Sheet.12">
                  <p:link updateAutomatic="1"/>
                </p:oleObj>
              </mc:Choice>
              <mc:Fallback>
                <p:oleObj name="Worksheet" r:id="rId3" imgW="2804018" imgH="434387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20000" y="219630"/>
                        <a:ext cx="2803525" cy="434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67715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5EAF2C-A75C-4421-98D9-0E85598F2BA5}"/>
              </a:ext>
            </a:extLst>
          </p:cNvPr>
          <p:cNvSpPr/>
          <p:nvPr/>
        </p:nvSpPr>
        <p:spPr>
          <a:xfrm>
            <a:off x="181470" y="180000"/>
            <a:ext cx="11830529" cy="554373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1. Number of Calls and Average Answer Time </a:t>
            </a:r>
            <a:endParaRPr lang="en-NZ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CEA5B7-B3C8-4D69-811D-DFDC30AABF40}"/>
              </a:ext>
            </a:extLst>
          </p:cNvPr>
          <p:cNvSpPr/>
          <p:nvPr/>
        </p:nvSpPr>
        <p:spPr>
          <a:xfrm>
            <a:off x="181470" y="914373"/>
            <a:ext cx="11830529" cy="734374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8EBBD2-4E68-4E2F-B8BE-AFF6282C0D4E}"/>
              </a:ext>
            </a:extLst>
          </p:cNvPr>
          <p:cNvSpPr/>
          <p:nvPr/>
        </p:nvSpPr>
        <p:spPr>
          <a:xfrm>
            <a:off x="169471" y="1839385"/>
            <a:ext cx="5824530" cy="2203861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EA8C1C-533C-4B91-9A70-0AF429C454F5}"/>
              </a:ext>
            </a:extLst>
          </p:cNvPr>
          <p:cNvSpPr/>
          <p:nvPr/>
        </p:nvSpPr>
        <p:spPr>
          <a:xfrm>
            <a:off x="177057" y="4233883"/>
            <a:ext cx="11830529" cy="2458187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4B459B-DE60-453E-BA36-49D25E8CF1FE}"/>
              </a:ext>
            </a:extLst>
          </p:cNvPr>
          <p:cNvSpPr/>
          <p:nvPr/>
        </p:nvSpPr>
        <p:spPr>
          <a:xfrm>
            <a:off x="6198000" y="1839385"/>
            <a:ext cx="5824530" cy="2203861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Summary for the entire reporting period: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Late evenings on working days had the longest answer times, and the highest rate of missed calls.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outsourced provider returned up to 70% of overflow calls back to the main line, indicating severe performance issues.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General calls represented only a small share of total activity. Most calls were medical requests, with service approval calls being the most frequent. A large proportion of calls fell into the “Other” 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Overall customer satisfaction remained relatively high despite long waiting times and missed calls.</a:t>
            </a:r>
          </a:p>
          <a:p>
            <a:endParaRPr lang="en-NZ" sz="1400" dirty="0">
              <a:solidFill>
                <a:srgbClr val="FF0000"/>
              </a:solidFill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6C10A60-476B-474B-8B3D-B58D13334D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7197391"/>
              </p:ext>
            </p:extLst>
          </p:nvPr>
        </p:nvGraphicFramePr>
        <p:xfrm>
          <a:off x="336186" y="978904"/>
          <a:ext cx="1166495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9" name="Worksheet" r:id="rId3" imgW="13990320" imgH="731331" progId="Excel.Sheet.12">
                  <p:link updateAutomatic="1"/>
                </p:oleObj>
              </mc:Choice>
              <mc:Fallback>
                <p:oleObj name="Worksheet" r:id="rId3" imgW="13990320" imgH="731331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6186" y="978904"/>
                        <a:ext cx="11664950" cy="615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84635EF9-39BD-4086-9973-185BDA9E5E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5870800"/>
              </p:ext>
            </p:extLst>
          </p:nvPr>
        </p:nvGraphicFramePr>
        <p:xfrm>
          <a:off x="271463" y="1836738"/>
          <a:ext cx="5837237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0" name="Worksheet" r:id="rId5" imgW="5836849" imgH="2209690" progId="Excel.Sheet.12">
                  <p:link updateAutomatic="1"/>
                </p:oleObj>
              </mc:Choice>
              <mc:Fallback>
                <p:oleObj name="Worksheet" r:id="rId5" imgW="5836849" imgH="220969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1463" y="1836738"/>
                        <a:ext cx="5837237" cy="220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73E44FFF-9FC3-4B79-80CB-B35F00D647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026513"/>
              </p:ext>
            </p:extLst>
          </p:nvPr>
        </p:nvGraphicFramePr>
        <p:xfrm>
          <a:off x="619125" y="4446588"/>
          <a:ext cx="10750550" cy="20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1" name="Worksheet" r:id="rId7" imgW="12893040" imgH="2430701" progId="Excel.Sheet.12">
                  <p:link updateAutomatic="1"/>
                </p:oleObj>
              </mc:Choice>
              <mc:Fallback>
                <p:oleObj name="Worksheet" r:id="rId7" imgW="12893040" imgH="2430701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19125" y="4446588"/>
                        <a:ext cx="10750550" cy="203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49421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5EAF2C-A75C-4421-98D9-0E85598F2BA5}"/>
              </a:ext>
            </a:extLst>
          </p:cNvPr>
          <p:cNvSpPr/>
          <p:nvPr/>
        </p:nvSpPr>
        <p:spPr>
          <a:xfrm>
            <a:off x="181470" y="180000"/>
            <a:ext cx="11830529" cy="554373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2. Lost Calls</a:t>
            </a:r>
            <a:endParaRPr lang="en-NZ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CEA5B7-B3C8-4D69-811D-DFDC30AABF40}"/>
              </a:ext>
            </a:extLst>
          </p:cNvPr>
          <p:cNvSpPr/>
          <p:nvPr/>
        </p:nvSpPr>
        <p:spPr>
          <a:xfrm>
            <a:off x="181470" y="914373"/>
            <a:ext cx="11830529" cy="734374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8EBBD2-4E68-4E2F-B8BE-AFF6282C0D4E}"/>
              </a:ext>
            </a:extLst>
          </p:cNvPr>
          <p:cNvSpPr/>
          <p:nvPr/>
        </p:nvSpPr>
        <p:spPr>
          <a:xfrm>
            <a:off x="169471" y="1839385"/>
            <a:ext cx="5824530" cy="2203861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EA8C1C-533C-4B91-9A70-0AF429C454F5}"/>
              </a:ext>
            </a:extLst>
          </p:cNvPr>
          <p:cNvSpPr/>
          <p:nvPr/>
        </p:nvSpPr>
        <p:spPr>
          <a:xfrm>
            <a:off x="177057" y="4233883"/>
            <a:ext cx="11830529" cy="2458187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4B459B-DE60-453E-BA36-49D25E8CF1FE}"/>
              </a:ext>
            </a:extLst>
          </p:cNvPr>
          <p:cNvSpPr/>
          <p:nvPr/>
        </p:nvSpPr>
        <p:spPr>
          <a:xfrm>
            <a:off x="6198000" y="1839385"/>
            <a:ext cx="5824530" cy="2203861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NZ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0E9ABD88-A1B4-4521-9AED-01642BBAA8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8096326"/>
              </p:ext>
            </p:extLst>
          </p:nvPr>
        </p:nvGraphicFramePr>
        <p:xfrm>
          <a:off x="259846" y="943943"/>
          <a:ext cx="1166495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5" name="Worksheet" r:id="rId3" imgW="13990320" imgH="731331" progId="Excel.Sheet.12">
                  <p:link updateAutomatic="1"/>
                </p:oleObj>
              </mc:Choice>
              <mc:Fallback>
                <p:oleObj name="Worksheet" r:id="rId3" imgW="13990320" imgH="731331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9846" y="943943"/>
                        <a:ext cx="11664950" cy="615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9F551CCC-3C5F-4D73-9AAC-7099EE304F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3057130"/>
              </p:ext>
            </p:extLst>
          </p:nvPr>
        </p:nvGraphicFramePr>
        <p:xfrm>
          <a:off x="147638" y="1882775"/>
          <a:ext cx="5821362" cy="215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6" name="Worksheet" r:id="rId5" imgW="5821538" imgH="2156240" progId="Excel.Sheet.12">
                  <p:link updateAutomatic="1"/>
                </p:oleObj>
              </mc:Choice>
              <mc:Fallback>
                <p:oleObj name="Worksheet" r:id="rId5" imgW="5821538" imgH="215624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7638" y="1882775"/>
                        <a:ext cx="5821362" cy="2155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60CF5F83-C961-4864-852A-1A0943733A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2908301"/>
              </p:ext>
            </p:extLst>
          </p:nvPr>
        </p:nvGraphicFramePr>
        <p:xfrm>
          <a:off x="6118225" y="1838325"/>
          <a:ext cx="5821363" cy="215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7" name="Worksheet" r:id="rId7" imgW="5821538" imgH="2156240" progId="Excel.Sheet.12">
                  <p:link updateAutomatic="1"/>
                </p:oleObj>
              </mc:Choice>
              <mc:Fallback>
                <p:oleObj name="Worksheet" r:id="rId7" imgW="5821538" imgH="215624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118225" y="1838325"/>
                        <a:ext cx="5821363" cy="2155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20E1D045-F701-4DC7-A384-17722B6ED0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0637009"/>
              </p:ext>
            </p:extLst>
          </p:nvPr>
        </p:nvGraphicFramePr>
        <p:xfrm>
          <a:off x="180975" y="4271963"/>
          <a:ext cx="11825288" cy="2408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8" name="Worksheet" r:id="rId9" imgW="11825956" imgH="2407794" progId="Excel.Sheet.12">
                  <p:link updateAutomatic="1"/>
                </p:oleObj>
              </mc:Choice>
              <mc:Fallback>
                <p:oleObj name="Worksheet" r:id="rId9" imgW="11825956" imgH="2407794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0975" y="4271963"/>
                        <a:ext cx="11825288" cy="2408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09408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5EAF2C-A75C-4421-98D9-0E85598F2BA5}"/>
              </a:ext>
            </a:extLst>
          </p:cNvPr>
          <p:cNvSpPr/>
          <p:nvPr/>
        </p:nvSpPr>
        <p:spPr>
          <a:xfrm>
            <a:off x="181470" y="180000"/>
            <a:ext cx="11830529" cy="554373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3. Outsourced Call-Center Performance</a:t>
            </a:r>
            <a:endParaRPr lang="en-NZ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CEA5B7-B3C8-4D69-811D-DFDC30AABF40}"/>
              </a:ext>
            </a:extLst>
          </p:cNvPr>
          <p:cNvSpPr/>
          <p:nvPr/>
        </p:nvSpPr>
        <p:spPr>
          <a:xfrm>
            <a:off x="181470" y="914373"/>
            <a:ext cx="11830529" cy="734374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8EBBD2-4E68-4E2F-B8BE-AFF6282C0D4E}"/>
              </a:ext>
            </a:extLst>
          </p:cNvPr>
          <p:cNvSpPr/>
          <p:nvPr/>
        </p:nvSpPr>
        <p:spPr>
          <a:xfrm>
            <a:off x="169470" y="1839385"/>
            <a:ext cx="11838116" cy="2203861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EA8C1C-533C-4B91-9A70-0AF429C454F5}"/>
              </a:ext>
            </a:extLst>
          </p:cNvPr>
          <p:cNvSpPr/>
          <p:nvPr/>
        </p:nvSpPr>
        <p:spPr>
          <a:xfrm>
            <a:off x="177057" y="4233883"/>
            <a:ext cx="11830529" cy="2458187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355E3844-43D2-43F0-8CEC-939993A8A1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6896278"/>
              </p:ext>
            </p:extLst>
          </p:nvPr>
        </p:nvGraphicFramePr>
        <p:xfrm>
          <a:off x="127000" y="1787525"/>
          <a:ext cx="11871325" cy="225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8" name="Worksheet" r:id="rId3" imgW="11871889" imgH="2255504" progId="Excel.Sheet.12">
                  <p:link updateAutomatic="1"/>
                </p:oleObj>
              </mc:Choice>
              <mc:Fallback>
                <p:oleObj name="Worksheet" r:id="rId3" imgW="11871889" imgH="2255504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7000" y="1787525"/>
                        <a:ext cx="11871325" cy="2255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CE312D90-C23A-4634-9595-7B60325580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1444758"/>
              </p:ext>
            </p:extLst>
          </p:nvPr>
        </p:nvGraphicFramePr>
        <p:xfrm>
          <a:off x="173038" y="4143375"/>
          <a:ext cx="11871325" cy="2522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9" name="Worksheet" r:id="rId5" imgW="11871889" imgH="2521906" progId="Excel.Sheet.12">
                  <p:link updateAutomatic="1"/>
                </p:oleObj>
              </mc:Choice>
              <mc:Fallback>
                <p:oleObj name="Worksheet" r:id="rId5" imgW="11871889" imgH="2521906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3038" y="4143375"/>
                        <a:ext cx="11871325" cy="2522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A2426AF1-836F-44B1-A190-A55A90C855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7240730"/>
              </p:ext>
            </p:extLst>
          </p:nvPr>
        </p:nvGraphicFramePr>
        <p:xfrm>
          <a:off x="525928" y="973585"/>
          <a:ext cx="1112520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0" name="Worksheet" r:id="rId7" imgW="13342585" imgH="731331" progId="Excel.Sheet.12">
                  <p:link updateAutomatic="1"/>
                </p:oleObj>
              </mc:Choice>
              <mc:Fallback>
                <p:oleObj name="Worksheet" r:id="rId7" imgW="13342585" imgH="731331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5928" y="973585"/>
                        <a:ext cx="11125200" cy="615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6537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5EAF2C-A75C-4421-98D9-0E85598F2BA5}"/>
              </a:ext>
            </a:extLst>
          </p:cNvPr>
          <p:cNvSpPr/>
          <p:nvPr/>
        </p:nvSpPr>
        <p:spPr>
          <a:xfrm>
            <a:off x="181470" y="180000"/>
            <a:ext cx="11830529" cy="554373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4. Call Types</a:t>
            </a:r>
            <a:endParaRPr lang="en-NZ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CEA5B7-B3C8-4D69-811D-DFDC30AABF40}"/>
              </a:ext>
            </a:extLst>
          </p:cNvPr>
          <p:cNvSpPr/>
          <p:nvPr/>
        </p:nvSpPr>
        <p:spPr>
          <a:xfrm>
            <a:off x="181470" y="914373"/>
            <a:ext cx="11830529" cy="734374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8EBBD2-4E68-4E2F-B8BE-AFF6282C0D4E}"/>
              </a:ext>
            </a:extLst>
          </p:cNvPr>
          <p:cNvSpPr/>
          <p:nvPr/>
        </p:nvSpPr>
        <p:spPr>
          <a:xfrm>
            <a:off x="169470" y="1839385"/>
            <a:ext cx="11838116" cy="2203861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EA8C1C-533C-4B91-9A70-0AF429C454F5}"/>
              </a:ext>
            </a:extLst>
          </p:cNvPr>
          <p:cNvSpPr/>
          <p:nvPr/>
        </p:nvSpPr>
        <p:spPr>
          <a:xfrm>
            <a:off x="177057" y="4233883"/>
            <a:ext cx="11830529" cy="2458187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BC645FE7-99A4-483D-80AC-DD6222A112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3786466"/>
              </p:ext>
            </p:extLst>
          </p:nvPr>
        </p:nvGraphicFramePr>
        <p:xfrm>
          <a:off x="336000" y="920961"/>
          <a:ext cx="9426575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4" name="Worksheet" r:id="rId3" imgW="9425975" imgH="731331" progId="Excel.Sheet.12">
                  <p:link updateAutomatic="1"/>
                </p:oleObj>
              </mc:Choice>
              <mc:Fallback>
                <p:oleObj name="Worksheet" r:id="rId3" imgW="9425975" imgH="731331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6000" y="920961"/>
                        <a:ext cx="9426575" cy="731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4EE5B898-B70C-4832-A969-EFAB978953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5063010"/>
              </p:ext>
            </p:extLst>
          </p:nvPr>
        </p:nvGraphicFramePr>
        <p:xfrm>
          <a:off x="190500" y="1825625"/>
          <a:ext cx="11871325" cy="226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5" name="Worksheet" r:id="rId5" imgW="11871889" imgH="2263140" progId="Excel.Sheet.12">
                  <p:link updateAutomatic="1"/>
                </p:oleObj>
              </mc:Choice>
              <mc:Fallback>
                <p:oleObj name="Worksheet" r:id="rId5" imgW="11871889" imgH="226314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0500" y="1825625"/>
                        <a:ext cx="11871325" cy="2263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EF2A0908-1D1D-40DA-850E-3BC77D958B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1279989"/>
              </p:ext>
            </p:extLst>
          </p:nvPr>
        </p:nvGraphicFramePr>
        <p:xfrm>
          <a:off x="155575" y="4081463"/>
          <a:ext cx="11864975" cy="255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6" name="Worksheet" r:id="rId7" imgW="11864234" imgH="2552449" progId="Excel.Sheet.12">
                  <p:link updateAutomatic="1"/>
                </p:oleObj>
              </mc:Choice>
              <mc:Fallback>
                <p:oleObj name="Worksheet" r:id="rId7" imgW="11864234" imgH="2552449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5575" y="4081463"/>
                        <a:ext cx="11864975" cy="2552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19347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5EAF2C-A75C-4421-98D9-0E85598F2BA5}"/>
              </a:ext>
            </a:extLst>
          </p:cNvPr>
          <p:cNvSpPr/>
          <p:nvPr/>
        </p:nvSpPr>
        <p:spPr>
          <a:xfrm>
            <a:off x="181470" y="180000"/>
            <a:ext cx="11830529" cy="554373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5. Customer Satisfaction Score (CSAT) </a:t>
            </a:r>
            <a:endParaRPr lang="en-NZ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CEA5B7-B3C8-4D69-811D-DFDC30AABF40}"/>
              </a:ext>
            </a:extLst>
          </p:cNvPr>
          <p:cNvSpPr/>
          <p:nvPr/>
        </p:nvSpPr>
        <p:spPr>
          <a:xfrm>
            <a:off x="181470" y="914373"/>
            <a:ext cx="11830529" cy="734374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8EBBD2-4E68-4E2F-B8BE-AFF6282C0D4E}"/>
              </a:ext>
            </a:extLst>
          </p:cNvPr>
          <p:cNvSpPr/>
          <p:nvPr/>
        </p:nvSpPr>
        <p:spPr>
          <a:xfrm>
            <a:off x="169471" y="1839385"/>
            <a:ext cx="5824530" cy="2203861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EA8C1C-533C-4B91-9A70-0AF429C454F5}"/>
              </a:ext>
            </a:extLst>
          </p:cNvPr>
          <p:cNvSpPr/>
          <p:nvPr/>
        </p:nvSpPr>
        <p:spPr>
          <a:xfrm>
            <a:off x="177058" y="4233883"/>
            <a:ext cx="5816944" cy="2458187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4B459B-DE60-453E-BA36-49D25E8CF1FE}"/>
              </a:ext>
            </a:extLst>
          </p:cNvPr>
          <p:cNvSpPr/>
          <p:nvPr/>
        </p:nvSpPr>
        <p:spPr>
          <a:xfrm>
            <a:off x="6198000" y="1839385"/>
            <a:ext cx="5824530" cy="2203861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 obtain immediate feedback and evaluate the quality of call-centre services, all callers were asked to provide ratings on a scale from 1 to 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Question 1 assesses whether the caller’s inquiry was successfully resolved during the interaction with the call centre.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Question 2 evaluates the caller’s level of satisfaction with the waiting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Question 3 measures the caller’s overall satisfaction with the call-centre service.</a:t>
            </a:r>
            <a:endParaRPr lang="en-NZ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17F67A-AEA5-4210-B02B-FF672F896968}"/>
              </a:ext>
            </a:extLst>
          </p:cNvPr>
          <p:cNvSpPr/>
          <p:nvPr/>
        </p:nvSpPr>
        <p:spPr>
          <a:xfrm>
            <a:off x="6205586" y="4233883"/>
            <a:ext cx="5816944" cy="2458187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FCB34F31-D882-42A5-96CE-D0E74A3BAC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5430928"/>
              </p:ext>
            </p:extLst>
          </p:nvPr>
        </p:nvGraphicFramePr>
        <p:xfrm>
          <a:off x="408000" y="913543"/>
          <a:ext cx="9426575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5" name="Worksheet" r:id="rId3" imgW="9425975" imgH="731331" progId="Excel.Sheet.12">
                  <p:link updateAutomatic="1"/>
                </p:oleObj>
              </mc:Choice>
              <mc:Fallback>
                <p:oleObj name="Worksheet" r:id="rId3" imgW="9425975" imgH="731331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8000" y="913543"/>
                        <a:ext cx="9426575" cy="731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83D0D33E-4D2D-423A-AAB9-B512D2B8EE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6134669"/>
              </p:ext>
            </p:extLst>
          </p:nvPr>
        </p:nvGraphicFramePr>
        <p:xfrm>
          <a:off x="217488" y="1824038"/>
          <a:ext cx="5845175" cy="226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6" name="Worksheet" r:id="rId5" imgW="5844505" imgH="2263140" progId="Excel.Sheet.12">
                  <p:link updateAutomatic="1"/>
                </p:oleObj>
              </mc:Choice>
              <mc:Fallback>
                <p:oleObj name="Worksheet" r:id="rId5" imgW="5844505" imgH="226314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7488" y="1824038"/>
                        <a:ext cx="5845175" cy="2263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2794B63A-ABAD-42F1-A044-81E77623AF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6002081"/>
              </p:ext>
            </p:extLst>
          </p:nvPr>
        </p:nvGraphicFramePr>
        <p:xfrm>
          <a:off x="179388" y="4232275"/>
          <a:ext cx="5805487" cy="246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7" name="Worksheet" r:id="rId7" imgW="5806227" imgH="2468880" progId="Excel.Sheet.12">
                  <p:link updateAutomatic="1"/>
                </p:oleObj>
              </mc:Choice>
              <mc:Fallback>
                <p:oleObj name="Worksheet" r:id="rId7" imgW="5806227" imgH="246888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9388" y="4232275"/>
                        <a:ext cx="5805487" cy="2468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8BFF38E3-09A0-48B5-9BD5-79A58A200F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7298827"/>
              </p:ext>
            </p:extLst>
          </p:nvPr>
        </p:nvGraphicFramePr>
        <p:xfrm>
          <a:off x="6176963" y="4194175"/>
          <a:ext cx="5813425" cy="247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8" name="Worksheet" r:id="rId9" imgW="5813883" imgH="2476092" progId="Excel.Sheet.12">
                  <p:link updateAutomatic="1"/>
                </p:oleObj>
              </mc:Choice>
              <mc:Fallback>
                <p:oleObj name="Worksheet" r:id="rId9" imgW="5813883" imgH="2476092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176963" y="4194175"/>
                        <a:ext cx="5813425" cy="2476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73345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</TotalTime>
  <Words>224</Words>
  <Application>Microsoft Office PowerPoint</Application>
  <PresentationFormat>Widescreen</PresentationFormat>
  <Paragraphs>16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Links</vt:lpstr>
      </vt:variant>
      <vt:variant>
        <vt:i4>18</vt:i4>
      </vt:variant>
      <vt:variant>
        <vt:lpstr>Slide Titles</vt:lpstr>
      </vt:variant>
      <vt:variant>
        <vt:i4>6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C:\Users\Andrew\OneDrive\Documents\GitHub\health-insurance-call-centre-optimisation\health_insurace_call_centre_analytics.xlsx!Slide#1 Calls&amp;Time!R2C15:R3C19</vt:lpstr>
      <vt:lpstr>C:\Users\Andrew\OneDrive\Documents\GitHub\health-insurance-call-centre-optimisation\health_insurace_call_centre_analytics.xlsx!Slide#1 Calls&amp;Time![health_insurace_call_centre_analytics.xlsx]Slide#1 Calls&amp;Time Chart 2</vt:lpstr>
      <vt:lpstr>C:\Users\Andrew\OneDrive\Documents\GitHub\health-insurance-call-centre-optimisation\health_insurace_call_centre_analytics.xlsx!Slide#1 Calls&amp;Time![health_insurace_call_centre_analytics.xlsx]Slide#1 Calls&amp;Time Chart 1</vt:lpstr>
      <vt:lpstr>C:\Users\Andrew\OneDrive\Documents\GitHub\health-insurance-call-centre-optimisation\health_insurace_call_centre_analytics.xlsx!Slide#1 Calls&amp;Time!R2C15:R3C19</vt:lpstr>
      <vt:lpstr>C:\Users\Andrew\OneDrive\Documents\GitHub\health-insurance-call-centre-optimisation\health_insurace_call_centre_analytics.xlsx!Slide#2 LostCalls![health_insurace_call_centre_analytics.xlsx]Slide#2 LostCalls Chart 3</vt:lpstr>
      <vt:lpstr>C:\Users\Andrew\OneDrive\Documents\GitHub\health-insurance-call-centre-optimisation\health_insurace_call_centre_analytics.xlsx!Slide#2 LostCalls![health_insurace_call_centre_analytics.xlsx]Slide#2 LostCalls Chart 7</vt:lpstr>
      <vt:lpstr>C:\Users\Andrew\OneDrive\Documents\GitHub\health-insurance-call-centre-optimisation\health_insurace_call_centre_analytics.xlsx!Slide#2 LostCalls![health_insurace_call_centre_analytics.xlsx]Slide#2 LostCalls Chart 11</vt:lpstr>
      <vt:lpstr>C:\Users\Andrew\OneDrive\Documents\GitHub\health-insurance-call-centre-optimisation\health_insurace_call_centre_analytics.xlsx!#3 Slide Out![health_insurace_call_centre_analytics.xlsx]#3 Slide Out Chart 1</vt:lpstr>
      <vt:lpstr>C:\Users\Andrew\OneDrive\Documents\GitHub\health-insurance-call-centre-optimisation\health_insurace_call_centre_analytics.xlsx!#3 Slide Out![health_insurace_call_centre_analytics.xlsx]#3 Slide Out Chart 2</vt:lpstr>
      <vt:lpstr>C:\Users\Andrew\OneDrive\Documents\GitHub\health-insurance-call-centre-optimisation\health_insurace_call_centre_analytics.xlsx!#3 Slide Out!R3C16:R4C22</vt:lpstr>
      <vt:lpstr>C:\Users\Andrew\OneDrive\Documents\GitHub\health-insurance-call-centre-optimisation\health_insurace_call_centre_analytics.xlsx!Slide#4 CallTypes!R3C17:R4C19</vt:lpstr>
      <vt:lpstr>C:\Users\Andrew\OneDrive\Documents\GitHub\health-insurance-call-centre-optimisation\health_insurace_call_centre_analytics.xlsx!Slide#4 CallTypes![health_insurace_call_centre_analytics.xlsx]Slide#4 CallTypes Chart 1</vt:lpstr>
      <vt:lpstr>C:\Users\Andrew\OneDrive\Documents\GitHub\health-insurance-call-centre-optimisation\health_insurace_call_centre_analytics.xlsx!Slide#4 CallTypes![health_insurace_call_centre_analytics.xlsx]Slide#4 CallTypes Chart 2</vt:lpstr>
      <vt:lpstr>C:\Users\Andrew\OneDrive\Documents\GitHub\health-insurance-call-centre-optimisation\health_insurace_call_centre_analytics.xlsx!Slide#5 CSAT!R2C19:R3C21</vt:lpstr>
      <vt:lpstr>C:\Users\Andrew\OneDrive\Documents\GitHub\health-insurance-call-centre-optimisation\health_insurace_call_centre_analytics.xlsx!Slide#5 CSAT![health_insurace_call_centre_analytics.xlsx]Slide#5 CSAT Chart 1</vt:lpstr>
      <vt:lpstr>C:\Users\Andrew\OneDrive\Documents\GitHub\health-insurance-call-centre-optimisation\health_insurace_call_centre_analytics.xlsx!Slide#5 CSAT![health_insurace_call_centre_analytics.xlsx]Slide#5 CSAT Chart 2</vt:lpstr>
      <vt:lpstr>C:\Users\Andrew\OneDrive\Documents\GitHub\health-insurance-call-centre-optimisation\health_insurace_call_centre_analytics.xlsx!Slide#5 CSAT![health_insurace_call_centre_analytics.xlsx]Slide#5 CSAT Chart 3</vt:lpstr>
      <vt:lpstr>C:\Users\Andrew\OneDrive\Documents\GitHub\health-insurance-call-centre-optimisation\health_insurace_call_centre_analytics.xlsx!Slide#1 Calls&amp;Time!R3C20</vt:lpstr>
      <vt:lpstr>Health Insurance Call Centre Daily Performance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Diachkov</dc:creator>
  <cp:lastModifiedBy>Andrew Diachkov</cp:lastModifiedBy>
  <cp:revision>86</cp:revision>
  <dcterms:created xsi:type="dcterms:W3CDTF">2025-10-11T17:57:34Z</dcterms:created>
  <dcterms:modified xsi:type="dcterms:W3CDTF">2025-11-25T09:10:16Z</dcterms:modified>
</cp:coreProperties>
</file>